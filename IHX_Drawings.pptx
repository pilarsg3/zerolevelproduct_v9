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333D4F"/>
                </a:solidFill>
                <a:latin typeface="Georgia"/>
              </a:rPr>
              <a:t>Intermediate heat exchanger — general elevation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create_ihx  ·  XZ section: lower plenum, tube bundle + windowed bundle shell, upper plenum, central pipe, outlet riser, lateral pipe  ·  bundle broken to scale</a:t>
            </a:r>
          </a:p>
        </p:txBody>
      </p:sp>
      <p:sp>
        <p:nvSpPr>
          <p:cNvPr id="4" name="Freeform 3"/>
          <p:cNvSpPr/>
          <p:nvPr/>
        </p:nvSpPr>
        <p:spPr>
          <a:xfrm>
            <a:off x="2646274" y="5691226"/>
            <a:ext cx="1199692" cy="599846"/>
          </a:xfrm>
          <a:custGeom>
            <a:avLst/>
            <a:gdLst/>
            <a:ahLst/>
            <a:cxnLst/>
            <a:rect l="l" t="t" r="r" b="b"/>
            <a:pathLst>
              <a:path w="1199692" h="599846">
                <a:moveTo>
                  <a:pt x="0" y="0"/>
                </a:moveTo>
                <a:lnTo>
                  <a:pt x="822" y="31393"/>
                </a:lnTo>
                <a:lnTo>
                  <a:pt x="3286" y="62701"/>
                </a:lnTo>
                <a:lnTo>
                  <a:pt x="7385" y="93836"/>
                </a:lnTo>
                <a:lnTo>
                  <a:pt x="13108" y="124715"/>
                </a:lnTo>
                <a:lnTo>
                  <a:pt x="20439" y="155251"/>
                </a:lnTo>
                <a:lnTo>
                  <a:pt x="29358" y="185362"/>
                </a:lnTo>
                <a:lnTo>
                  <a:pt x="39841" y="214965"/>
                </a:lnTo>
                <a:lnTo>
                  <a:pt x="51859" y="243979"/>
                </a:lnTo>
                <a:lnTo>
                  <a:pt x="65379" y="272324"/>
                </a:lnTo>
                <a:lnTo>
                  <a:pt x="80364" y="299923"/>
                </a:lnTo>
                <a:lnTo>
                  <a:pt x="96772" y="326699"/>
                </a:lnTo>
                <a:lnTo>
                  <a:pt x="114560" y="352580"/>
                </a:lnTo>
                <a:lnTo>
                  <a:pt x="133678" y="377495"/>
                </a:lnTo>
                <a:lnTo>
                  <a:pt x="154073" y="401375"/>
                </a:lnTo>
                <a:lnTo>
                  <a:pt x="175691" y="424155"/>
                </a:lnTo>
                <a:lnTo>
                  <a:pt x="198470" y="445772"/>
                </a:lnTo>
                <a:lnTo>
                  <a:pt x="222350" y="466168"/>
                </a:lnTo>
                <a:lnTo>
                  <a:pt x="247265" y="485286"/>
                </a:lnTo>
                <a:lnTo>
                  <a:pt x="273146" y="503073"/>
                </a:lnTo>
                <a:lnTo>
                  <a:pt x="299923" y="519482"/>
                </a:lnTo>
                <a:lnTo>
                  <a:pt x="327521" y="534467"/>
                </a:lnTo>
                <a:lnTo>
                  <a:pt x="355866" y="547987"/>
                </a:lnTo>
                <a:lnTo>
                  <a:pt x="384880" y="560004"/>
                </a:lnTo>
                <a:lnTo>
                  <a:pt x="414483" y="570487"/>
                </a:lnTo>
                <a:lnTo>
                  <a:pt x="444594" y="579407"/>
                </a:lnTo>
                <a:lnTo>
                  <a:pt x="475131" y="586738"/>
                </a:lnTo>
                <a:lnTo>
                  <a:pt x="506009" y="592461"/>
                </a:lnTo>
                <a:lnTo>
                  <a:pt x="537145" y="596560"/>
                </a:lnTo>
                <a:lnTo>
                  <a:pt x="568452" y="599024"/>
                </a:lnTo>
                <a:lnTo>
                  <a:pt x="599846" y="599846"/>
                </a:lnTo>
                <a:lnTo>
                  <a:pt x="631240" y="599024"/>
                </a:lnTo>
                <a:lnTo>
                  <a:pt x="662547" y="596560"/>
                </a:lnTo>
                <a:lnTo>
                  <a:pt x="693683" y="592461"/>
                </a:lnTo>
                <a:lnTo>
                  <a:pt x="724561" y="586738"/>
                </a:lnTo>
                <a:lnTo>
                  <a:pt x="755098" y="579407"/>
                </a:lnTo>
                <a:lnTo>
                  <a:pt x="785209" y="570487"/>
                </a:lnTo>
                <a:lnTo>
                  <a:pt x="814812" y="560004"/>
                </a:lnTo>
                <a:lnTo>
                  <a:pt x="843826" y="547987"/>
                </a:lnTo>
                <a:lnTo>
                  <a:pt x="872171" y="534467"/>
                </a:lnTo>
                <a:lnTo>
                  <a:pt x="899769" y="519482"/>
                </a:lnTo>
                <a:lnTo>
                  <a:pt x="926546" y="503073"/>
                </a:lnTo>
                <a:lnTo>
                  <a:pt x="952427" y="485286"/>
                </a:lnTo>
                <a:lnTo>
                  <a:pt x="977342" y="466168"/>
                </a:lnTo>
                <a:lnTo>
                  <a:pt x="1001222" y="445772"/>
                </a:lnTo>
                <a:lnTo>
                  <a:pt x="1024001" y="424155"/>
                </a:lnTo>
                <a:lnTo>
                  <a:pt x="1045619" y="401375"/>
                </a:lnTo>
                <a:lnTo>
                  <a:pt x="1066014" y="377495"/>
                </a:lnTo>
                <a:lnTo>
                  <a:pt x="1085132" y="352580"/>
                </a:lnTo>
                <a:lnTo>
                  <a:pt x="1102920" y="326699"/>
                </a:lnTo>
                <a:lnTo>
                  <a:pt x="1119328" y="299923"/>
                </a:lnTo>
                <a:lnTo>
                  <a:pt x="1134313" y="272324"/>
                </a:lnTo>
                <a:lnTo>
                  <a:pt x="1147833" y="243979"/>
                </a:lnTo>
                <a:lnTo>
                  <a:pt x="1159851" y="214965"/>
                </a:lnTo>
                <a:lnTo>
                  <a:pt x="1170334" y="185362"/>
                </a:lnTo>
                <a:lnTo>
                  <a:pt x="1179253" y="155251"/>
                </a:lnTo>
                <a:lnTo>
                  <a:pt x="1186584" y="124715"/>
                </a:lnTo>
                <a:lnTo>
                  <a:pt x="1192307" y="93836"/>
                </a:lnTo>
                <a:lnTo>
                  <a:pt x="1196406" y="62701"/>
                </a:lnTo>
                <a:lnTo>
                  <a:pt x="1198870" y="31393"/>
                </a:lnTo>
                <a:lnTo>
                  <a:pt x="1199692" y="0"/>
                </a:lnTo>
                <a:lnTo>
                  <a:pt x="1162202" y="0"/>
                </a:lnTo>
                <a:lnTo>
                  <a:pt x="1161431" y="29431"/>
                </a:lnTo>
                <a:lnTo>
                  <a:pt x="1159121" y="58782"/>
                </a:lnTo>
                <a:lnTo>
                  <a:pt x="1155278" y="87971"/>
                </a:lnTo>
                <a:lnTo>
                  <a:pt x="1149913" y="116920"/>
                </a:lnTo>
                <a:lnTo>
                  <a:pt x="1143040" y="145548"/>
                </a:lnTo>
                <a:lnTo>
                  <a:pt x="1134678" y="173777"/>
                </a:lnTo>
                <a:lnTo>
                  <a:pt x="1124851" y="201530"/>
                </a:lnTo>
                <a:lnTo>
                  <a:pt x="1113584" y="228730"/>
                </a:lnTo>
                <a:lnTo>
                  <a:pt x="1100909" y="255304"/>
                </a:lnTo>
                <a:lnTo>
                  <a:pt x="1086861" y="281178"/>
                </a:lnTo>
                <a:lnTo>
                  <a:pt x="1071477" y="306281"/>
                </a:lnTo>
                <a:lnTo>
                  <a:pt x="1054802" y="330544"/>
                </a:lnTo>
                <a:lnTo>
                  <a:pt x="1036879" y="353902"/>
                </a:lnTo>
                <a:lnTo>
                  <a:pt x="1017758" y="376289"/>
                </a:lnTo>
                <a:lnTo>
                  <a:pt x="997492" y="397645"/>
                </a:lnTo>
                <a:lnTo>
                  <a:pt x="976136" y="417912"/>
                </a:lnTo>
                <a:lnTo>
                  <a:pt x="953748" y="437032"/>
                </a:lnTo>
                <a:lnTo>
                  <a:pt x="930391" y="454955"/>
                </a:lnTo>
                <a:lnTo>
                  <a:pt x="906127" y="471631"/>
                </a:lnTo>
                <a:lnTo>
                  <a:pt x="881024" y="487014"/>
                </a:lnTo>
                <a:lnTo>
                  <a:pt x="855150" y="501062"/>
                </a:lnTo>
                <a:lnTo>
                  <a:pt x="828577" y="513737"/>
                </a:lnTo>
                <a:lnTo>
                  <a:pt x="801376" y="525004"/>
                </a:lnTo>
                <a:lnTo>
                  <a:pt x="773624" y="534832"/>
                </a:lnTo>
                <a:lnTo>
                  <a:pt x="745394" y="543194"/>
                </a:lnTo>
                <a:lnTo>
                  <a:pt x="716766" y="550067"/>
                </a:lnTo>
                <a:lnTo>
                  <a:pt x="687818" y="555432"/>
                </a:lnTo>
                <a:lnTo>
                  <a:pt x="658628" y="559275"/>
                </a:lnTo>
                <a:lnTo>
                  <a:pt x="629277" y="561585"/>
                </a:lnTo>
                <a:lnTo>
                  <a:pt x="599846" y="562356"/>
                </a:lnTo>
                <a:lnTo>
                  <a:pt x="570415" y="561585"/>
                </a:lnTo>
                <a:lnTo>
                  <a:pt x="541064" y="559275"/>
                </a:lnTo>
                <a:lnTo>
                  <a:pt x="511874" y="555432"/>
                </a:lnTo>
                <a:lnTo>
                  <a:pt x="482926" y="550067"/>
                </a:lnTo>
                <a:lnTo>
                  <a:pt x="454298" y="543194"/>
                </a:lnTo>
                <a:lnTo>
                  <a:pt x="426068" y="534832"/>
                </a:lnTo>
                <a:lnTo>
                  <a:pt x="398316" y="525004"/>
                </a:lnTo>
                <a:lnTo>
                  <a:pt x="371115" y="513737"/>
                </a:lnTo>
                <a:lnTo>
                  <a:pt x="344542" y="501062"/>
                </a:lnTo>
                <a:lnTo>
                  <a:pt x="318668" y="487014"/>
                </a:lnTo>
                <a:lnTo>
                  <a:pt x="293565" y="471631"/>
                </a:lnTo>
                <a:lnTo>
                  <a:pt x="269301" y="454955"/>
                </a:lnTo>
                <a:lnTo>
                  <a:pt x="245944" y="437032"/>
                </a:lnTo>
                <a:lnTo>
                  <a:pt x="223556" y="417912"/>
                </a:lnTo>
                <a:lnTo>
                  <a:pt x="202200" y="397645"/>
                </a:lnTo>
                <a:lnTo>
                  <a:pt x="181934" y="376289"/>
                </a:lnTo>
                <a:lnTo>
                  <a:pt x="162813" y="353902"/>
                </a:lnTo>
                <a:lnTo>
                  <a:pt x="144890" y="330544"/>
                </a:lnTo>
                <a:lnTo>
                  <a:pt x="128215" y="306281"/>
                </a:lnTo>
                <a:lnTo>
                  <a:pt x="112831" y="281178"/>
                </a:lnTo>
                <a:lnTo>
                  <a:pt x="98783" y="255304"/>
                </a:lnTo>
                <a:lnTo>
                  <a:pt x="86108" y="228730"/>
                </a:lnTo>
                <a:lnTo>
                  <a:pt x="74841" y="201530"/>
                </a:lnTo>
                <a:lnTo>
                  <a:pt x="65014" y="173777"/>
                </a:lnTo>
                <a:lnTo>
                  <a:pt x="56652" y="145548"/>
                </a:lnTo>
                <a:lnTo>
                  <a:pt x="49779" y="116920"/>
                </a:lnTo>
                <a:lnTo>
                  <a:pt x="44414" y="87971"/>
                </a:lnTo>
                <a:lnTo>
                  <a:pt x="40571" y="58782"/>
                </a:lnTo>
                <a:lnTo>
                  <a:pt x="38261" y="29431"/>
                </a:lnTo>
                <a:lnTo>
                  <a:pt x="37490" y="0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646274" y="5316322"/>
            <a:ext cx="37490" cy="374904"/>
          </a:xfrm>
          <a:custGeom>
            <a:avLst/>
            <a:gdLst/>
            <a:ahLst/>
            <a:cxnLst/>
            <a:rect l="l" t="t" r="r" b="b"/>
            <a:pathLst>
              <a:path w="37490" h="374904">
                <a:moveTo>
                  <a:pt x="0" y="0"/>
                </a:moveTo>
                <a:lnTo>
                  <a:pt x="37490" y="0"/>
                </a:lnTo>
                <a:lnTo>
                  <a:pt x="37490" y="374904"/>
                </a:lnTo>
                <a:lnTo>
                  <a:pt x="0" y="374904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08476" y="5316322"/>
            <a:ext cx="37490" cy="374904"/>
          </a:xfrm>
          <a:custGeom>
            <a:avLst/>
            <a:gdLst/>
            <a:ahLst/>
            <a:cxnLst/>
            <a:rect l="l" t="t" r="r" b="b"/>
            <a:pathLst>
              <a:path w="37490" h="374904">
                <a:moveTo>
                  <a:pt x="0" y="0"/>
                </a:moveTo>
                <a:lnTo>
                  <a:pt x="37490" y="0"/>
                </a:lnTo>
                <a:lnTo>
                  <a:pt x="37490" y="374904"/>
                </a:lnTo>
                <a:lnTo>
                  <a:pt x="0" y="374904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683764" y="5316322"/>
            <a:ext cx="1124712" cy="37490"/>
          </a:xfrm>
          <a:custGeom>
            <a:avLst/>
            <a:gdLst/>
            <a:ahLst/>
            <a:cxnLst/>
            <a:rect l="l" t="t" r="r" b="b"/>
            <a:pathLst>
              <a:path w="1124712" h="37490">
                <a:moveTo>
                  <a:pt x="0" y="0"/>
                </a:moveTo>
                <a:lnTo>
                  <a:pt x="1124712" y="0"/>
                </a:lnTo>
                <a:lnTo>
                  <a:pt x="1124712" y="37490"/>
                </a:lnTo>
                <a:lnTo>
                  <a:pt x="0" y="37490"/>
                </a:lnTo>
                <a:close/>
              </a:path>
            </a:pathLst>
          </a:custGeom>
          <a:solidFill>
            <a:srgbClr val="AEC3D6"/>
          </a:solidFill>
          <a:ln w="1651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683764" y="3134563"/>
            <a:ext cx="1124712" cy="37491"/>
          </a:xfrm>
          <a:custGeom>
            <a:avLst/>
            <a:gdLst/>
            <a:ahLst/>
            <a:cxnLst/>
            <a:rect l="l" t="t" r="r" b="b"/>
            <a:pathLst>
              <a:path w="1124712" h="37491">
                <a:moveTo>
                  <a:pt x="0" y="0"/>
                </a:moveTo>
                <a:lnTo>
                  <a:pt x="1124712" y="0"/>
                </a:lnTo>
                <a:lnTo>
                  <a:pt x="1124712" y="37491"/>
                </a:lnTo>
                <a:lnTo>
                  <a:pt x="0" y="37491"/>
                </a:lnTo>
                <a:close/>
              </a:path>
            </a:pathLst>
          </a:custGeom>
          <a:solidFill>
            <a:srgbClr val="AEC3D6"/>
          </a:solidFill>
          <a:ln w="1651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646274" y="2609698"/>
            <a:ext cx="37490" cy="562356"/>
          </a:xfrm>
          <a:custGeom>
            <a:avLst/>
            <a:gdLst/>
            <a:ahLst/>
            <a:cxnLst/>
            <a:rect l="l" t="t" r="r" b="b"/>
            <a:pathLst>
              <a:path w="37490" h="562356">
                <a:moveTo>
                  <a:pt x="0" y="0"/>
                </a:moveTo>
                <a:lnTo>
                  <a:pt x="37490" y="0"/>
                </a:lnTo>
                <a:lnTo>
                  <a:pt x="37490" y="562356"/>
                </a:lnTo>
                <a:lnTo>
                  <a:pt x="0" y="562356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808476" y="2609698"/>
            <a:ext cx="37490" cy="562356"/>
          </a:xfrm>
          <a:custGeom>
            <a:avLst/>
            <a:gdLst/>
            <a:ahLst/>
            <a:cxnLst/>
            <a:rect l="l" t="t" r="r" b="b"/>
            <a:pathLst>
              <a:path w="37490" h="562356">
                <a:moveTo>
                  <a:pt x="0" y="0"/>
                </a:moveTo>
                <a:lnTo>
                  <a:pt x="37490" y="0"/>
                </a:lnTo>
                <a:lnTo>
                  <a:pt x="37490" y="562356"/>
                </a:lnTo>
                <a:lnTo>
                  <a:pt x="0" y="562356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646274" y="2009851"/>
            <a:ext cx="1199692" cy="599847"/>
          </a:xfrm>
          <a:custGeom>
            <a:avLst/>
            <a:gdLst/>
            <a:ahLst/>
            <a:cxnLst/>
            <a:rect l="l" t="t" r="r" b="b"/>
            <a:pathLst>
              <a:path w="1199692" h="599847">
                <a:moveTo>
                  <a:pt x="1199692" y="599847"/>
                </a:moveTo>
                <a:lnTo>
                  <a:pt x="1198870" y="568453"/>
                </a:lnTo>
                <a:lnTo>
                  <a:pt x="1196406" y="537146"/>
                </a:lnTo>
                <a:lnTo>
                  <a:pt x="1192307" y="506010"/>
                </a:lnTo>
                <a:lnTo>
                  <a:pt x="1186584" y="475132"/>
                </a:lnTo>
                <a:lnTo>
                  <a:pt x="1179253" y="444595"/>
                </a:lnTo>
                <a:lnTo>
                  <a:pt x="1170334" y="414484"/>
                </a:lnTo>
                <a:lnTo>
                  <a:pt x="1159851" y="384881"/>
                </a:lnTo>
                <a:lnTo>
                  <a:pt x="1147833" y="355867"/>
                </a:lnTo>
                <a:lnTo>
                  <a:pt x="1134313" y="327522"/>
                </a:lnTo>
                <a:lnTo>
                  <a:pt x="1119328" y="299923"/>
                </a:lnTo>
                <a:lnTo>
                  <a:pt x="1102920" y="273147"/>
                </a:lnTo>
                <a:lnTo>
                  <a:pt x="1085132" y="247266"/>
                </a:lnTo>
                <a:lnTo>
                  <a:pt x="1066014" y="222351"/>
                </a:lnTo>
                <a:lnTo>
                  <a:pt x="1045619" y="198471"/>
                </a:lnTo>
                <a:lnTo>
                  <a:pt x="1024001" y="175691"/>
                </a:lnTo>
                <a:lnTo>
                  <a:pt x="1001222" y="154074"/>
                </a:lnTo>
                <a:lnTo>
                  <a:pt x="977342" y="133678"/>
                </a:lnTo>
                <a:lnTo>
                  <a:pt x="952427" y="114561"/>
                </a:lnTo>
                <a:lnTo>
                  <a:pt x="926546" y="96773"/>
                </a:lnTo>
                <a:lnTo>
                  <a:pt x="899769" y="80364"/>
                </a:lnTo>
                <a:lnTo>
                  <a:pt x="872171" y="65380"/>
                </a:lnTo>
                <a:lnTo>
                  <a:pt x="843826" y="51860"/>
                </a:lnTo>
                <a:lnTo>
                  <a:pt x="814812" y="39842"/>
                </a:lnTo>
                <a:lnTo>
                  <a:pt x="785209" y="29359"/>
                </a:lnTo>
                <a:lnTo>
                  <a:pt x="755098" y="20439"/>
                </a:lnTo>
                <a:lnTo>
                  <a:pt x="724561" y="13108"/>
                </a:lnTo>
                <a:lnTo>
                  <a:pt x="693683" y="7385"/>
                </a:lnTo>
                <a:lnTo>
                  <a:pt x="662547" y="3286"/>
                </a:lnTo>
                <a:lnTo>
                  <a:pt x="631240" y="822"/>
                </a:lnTo>
                <a:lnTo>
                  <a:pt x="599846" y="0"/>
                </a:lnTo>
                <a:lnTo>
                  <a:pt x="568452" y="822"/>
                </a:lnTo>
                <a:lnTo>
                  <a:pt x="537145" y="3286"/>
                </a:lnTo>
                <a:lnTo>
                  <a:pt x="506009" y="7385"/>
                </a:lnTo>
                <a:lnTo>
                  <a:pt x="475131" y="13108"/>
                </a:lnTo>
                <a:lnTo>
                  <a:pt x="444594" y="20439"/>
                </a:lnTo>
                <a:lnTo>
                  <a:pt x="414483" y="29359"/>
                </a:lnTo>
                <a:lnTo>
                  <a:pt x="384880" y="39842"/>
                </a:lnTo>
                <a:lnTo>
                  <a:pt x="355866" y="51860"/>
                </a:lnTo>
                <a:lnTo>
                  <a:pt x="327521" y="65380"/>
                </a:lnTo>
                <a:lnTo>
                  <a:pt x="299923" y="80364"/>
                </a:lnTo>
                <a:lnTo>
                  <a:pt x="273146" y="96773"/>
                </a:lnTo>
                <a:lnTo>
                  <a:pt x="247265" y="114561"/>
                </a:lnTo>
                <a:lnTo>
                  <a:pt x="222350" y="133678"/>
                </a:lnTo>
                <a:lnTo>
                  <a:pt x="198470" y="154074"/>
                </a:lnTo>
                <a:lnTo>
                  <a:pt x="175691" y="175691"/>
                </a:lnTo>
                <a:lnTo>
                  <a:pt x="154073" y="198471"/>
                </a:lnTo>
                <a:lnTo>
                  <a:pt x="133678" y="222351"/>
                </a:lnTo>
                <a:lnTo>
                  <a:pt x="114560" y="247266"/>
                </a:lnTo>
                <a:lnTo>
                  <a:pt x="96772" y="273147"/>
                </a:lnTo>
                <a:lnTo>
                  <a:pt x="80364" y="299923"/>
                </a:lnTo>
                <a:lnTo>
                  <a:pt x="65379" y="327522"/>
                </a:lnTo>
                <a:lnTo>
                  <a:pt x="51859" y="355867"/>
                </a:lnTo>
                <a:lnTo>
                  <a:pt x="39841" y="384881"/>
                </a:lnTo>
                <a:lnTo>
                  <a:pt x="29358" y="414484"/>
                </a:lnTo>
                <a:lnTo>
                  <a:pt x="20439" y="444595"/>
                </a:lnTo>
                <a:lnTo>
                  <a:pt x="13108" y="475132"/>
                </a:lnTo>
                <a:lnTo>
                  <a:pt x="7385" y="506010"/>
                </a:lnTo>
                <a:lnTo>
                  <a:pt x="3286" y="537146"/>
                </a:lnTo>
                <a:lnTo>
                  <a:pt x="822" y="568453"/>
                </a:lnTo>
                <a:lnTo>
                  <a:pt x="0" y="599847"/>
                </a:lnTo>
                <a:lnTo>
                  <a:pt x="37490" y="599847"/>
                </a:lnTo>
                <a:lnTo>
                  <a:pt x="38261" y="570415"/>
                </a:lnTo>
                <a:lnTo>
                  <a:pt x="40571" y="541064"/>
                </a:lnTo>
                <a:lnTo>
                  <a:pt x="44414" y="511875"/>
                </a:lnTo>
                <a:lnTo>
                  <a:pt x="49779" y="482926"/>
                </a:lnTo>
                <a:lnTo>
                  <a:pt x="56652" y="454298"/>
                </a:lnTo>
                <a:lnTo>
                  <a:pt x="65014" y="426069"/>
                </a:lnTo>
                <a:lnTo>
                  <a:pt x="74841" y="398316"/>
                </a:lnTo>
                <a:lnTo>
                  <a:pt x="86108" y="371116"/>
                </a:lnTo>
                <a:lnTo>
                  <a:pt x="98783" y="344542"/>
                </a:lnTo>
                <a:lnTo>
                  <a:pt x="112831" y="318669"/>
                </a:lnTo>
                <a:lnTo>
                  <a:pt x="128215" y="293566"/>
                </a:lnTo>
                <a:lnTo>
                  <a:pt x="144890" y="269302"/>
                </a:lnTo>
                <a:lnTo>
                  <a:pt x="162813" y="245945"/>
                </a:lnTo>
                <a:lnTo>
                  <a:pt x="181934" y="223557"/>
                </a:lnTo>
                <a:lnTo>
                  <a:pt x="202200" y="202201"/>
                </a:lnTo>
                <a:lnTo>
                  <a:pt x="223556" y="181935"/>
                </a:lnTo>
                <a:lnTo>
                  <a:pt x="245944" y="162814"/>
                </a:lnTo>
                <a:lnTo>
                  <a:pt x="269301" y="144891"/>
                </a:lnTo>
                <a:lnTo>
                  <a:pt x="293565" y="128215"/>
                </a:lnTo>
                <a:lnTo>
                  <a:pt x="318668" y="112832"/>
                </a:lnTo>
                <a:lnTo>
                  <a:pt x="344542" y="98784"/>
                </a:lnTo>
                <a:lnTo>
                  <a:pt x="371115" y="86109"/>
                </a:lnTo>
                <a:lnTo>
                  <a:pt x="398316" y="74842"/>
                </a:lnTo>
                <a:lnTo>
                  <a:pt x="426068" y="65014"/>
                </a:lnTo>
                <a:lnTo>
                  <a:pt x="454298" y="56652"/>
                </a:lnTo>
                <a:lnTo>
                  <a:pt x="482926" y="49779"/>
                </a:lnTo>
                <a:lnTo>
                  <a:pt x="511874" y="44414"/>
                </a:lnTo>
                <a:lnTo>
                  <a:pt x="541064" y="40571"/>
                </a:lnTo>
                <a:lnTo>
                  <a:pt x="570415" y="38261"/>
                </a:lnTo>
                <a:lnTo>
                  <a:pt x="599846" y="37491"/>
                </a:lnTo>
                <a:lnTo>
                  <a:pt x="629277" y="38261"/>
                </a:lnTo>
                <a:lnTo>
                  <a:pt x="658628" y="40571"/>
                </a:lnTo>
                <a:lnTo>
                  <a:pt x="687818" y="44414"/>
                </a:lnTo>
                <a:lnTo>
                  <a:pt x="716766" y="49779"/>
                </a:lnTo>
                <a:lnTo>
                  <a:pt x="745394" y="56652"/>
                </a:lnTo>
                <a:lnTo>
                  <a:pt x="773624" y="65014"/>
                </a:lnTo>
                <a:lnTo>
                  <a:pt x="801376" y="74842"/>
                </a:lnTo>
                <a:lnTo>
                  <a:pt x="828577" y="86109"/>
                </a:lnTo>
                <a:lnTo>
                  <a:pt x="855150" y="98784"/>
                </a:lnTo>
                <a:lnTo>
                  <a:pt x="881024" y="112832"/>
                </a:lnTo>
                <a:lnTo>
                  <a:pt x="906127" y="128215"/>
                </a:lnTo>
                <a:lnTo>
                  <a:pt x="930391" y="144891"/>
                </a:lnTo>
                <a:lnTo>
                  <a:pt x="953748" y="162814"/>
                </a:lnTo>
                <a:lnTo>
                  <a:pt x="976136" y="181935"/>
                </a:lnTo>
                <a:lnTo>
                  <a:pt x="997492" y="202201"/>
                </a:lnTo>
                <a:lnTo>
                  <a:pt x="1017758" y="223557"/>
                </a:lnTo>
                <a:lnTo>
                  <a:pt x="1036879" y="245945"/>
                </a:lnTo>
                <a:lnTo>
                  <a:pt x="1054802" y="269302"/>
                </a:lnTo>
                <a:lnTo>
                  <a:pt x="1071477" y="293566"/>
                </a:lnTo>
                <a:lnTo>
                  <a:pt x="1086861" y="318669"/>
                </a:lnTo>
                <a:lnTo>
                  <a:pt x="1100909" y="344542"/>
                </a:lnTo>
                <a:lnTo>
                  <a:pt x="1113584" y="371116"/>
                </a:lnTo>
                <a:lnTo>
                  <a:pt x="1124851" y="398316"/>
                </a:lnTo>
                <a:lnTo>
                  <a:pt x="1134678" y="426069"/>
                </a:lnTo>
                <a:lnTo>
                  <a:pt x="1143040" y="454298"/>
                </a:lnTo>
                <a:lnTo>
                  <a:pt x="1149913" y="482926"/>
                </a:lnTo>
                <a:lnTo>
                  <a:pt x="1155278" y="511875"/>
                </a:lnTo>
                <a:lnTo>
                  <a:pt x="1159121" y="541064"/>
                </a:lnTo>
                <a:lnTo>
                  <a:pt x="1161431" y="570415"/>
                </a:lnTo>
                <a:lnTo>
                  <a:pt x="1162202" y="599847"/>
                </a:lnTo>
                <a:close/>
              </a:path>
            </a:pathLst>
          </a:custGeom>
          <a:solidFill>
            <a:srgbClr val="C9D6E3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808476" y="4941418"/>
            <a:ext cx="0" cy="374904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808476" y="3172054"/>
            <a:ext cx="0" cy="374904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683764" y="4941418"/>
            <a:ext cx="0" cy="374904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83764" y="3172054"/>
            <a:ext cx="0" cy="374904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3340" y="352867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  <a:latin typeface="Calibri"/>
              </a:rPr>
              <a:t>bundle shell</a:t>
            </a:r>
          </a:p>
          <a:p>
            <a:pPr algn="l"/>
            <a:r>
              <a:rPr sz="950" b="0" i="1">
                <a:solidFill>
                  <a:srgbClr val="475569"/>
                </a:solidFill>
                <a:latin typeface="Calibri"/>
              </a:rPr>
              <a:t>(windowed)</a:t>
            </a:r>
          </a:p>
        </p:txBody>
      </p:sp>
      <p:sp>
        <p:nvSpPr>
          <p:cNvPr id="17" name="Freeform 16"/>
          <p:cNvSpPr/>
          <p:nvPr/>
        </p:nvSpPr>
        <p:spPr>
          <a:xfrm>
            <a:off x="3501055" y="4472788"/>
            <a:ext cx="52486" cy="843534"/>
          </a:xfrm>
          <a:custGeom>
            <a:avLst/>
            <a:gdLst/>
            <a:ahLst/>
            <a:cxnLst/>
            <a:rect l="l" t="t" r="r" b="b"/>
            <a:pathLst>
              <a:path w="52486" h="843534">
                <a:moveTo>
                  <a:pt x="0" y="0"/>
                </a:moveTo>
                <a:lnTo>
                  <a:pt x="52486" y="0"/>
                </a:lnTo>
                <a:lnTo>
                  <a:pt x="52486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527298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938699" y="4472788"/>
            <a:ext cx="52486" cy="843534"/>
          </a:xfrm>
          <a:custGeom>
            <a:avLst/>
            <a:gdLst/>
            <a:ahLst/>
            <a:cxnLst/>
            <a:rect l="l" t="t" r="r" b="b"/>
            <a:pathLst>
              <a:path w="52486" h="843534">
                <a:moveTo>
                  <a:pt x="0" y="0"/>
                </a:moveTo>
                <a:lnTo>
                  <a:pt x="52486" y="0"/>
                </a:lnTo>
                <a:lnTo>
                  <a:pt x="52486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964942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3636020" y="4472788"/>
            <a:ext cx="44989" cy="843534"/>
          </a:xfrm>
          <a:custGeom>
            <a:avLst/>
            <a:gdLst/>
            <a:ahLst/>
            <a:cxnLst/>
            <a:rect l="l" t="t" r="r" b="b"/>
            <a:pathLst>
              <a:path w="44989" h="843534">
                <a:moveTo>
                  <a:pt x="0" y="0"/>
                </a:moveTo>
                <a:lnTo>
                  <a:pt x="44989" y="0"/>
                </a:lnTo>
                <a:lnTo>
                  <a:pt x="44989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658514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2811231" y="4472788"/>
            <a:ext cx="44989" cy="843534"/>
          </a:xfrm>
          <a:custGeom>
            <a:avLst/>
            <a:gdLst/>
            <a:ahLst/>
            <a:cxnLst/>
            <a:rect l="l" t="t" r="r" b="b"/>
            <a:pathLst>
              <a:path w="44989" h="843534">
                <a:moveTo>
                  <a:pt x="0" y="0"/>
                </a:moveTo>
                <a:lnTo>
                  <a:pt x="44989" y="0"/>
                </a:lnTo>
                <a:lnTo>
                  <a:pt x="44989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2833726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711001" y="4472788"/>
            <a:ext cx="44988" cy="843534"/>
          </a:xfrm>
          <a:custGeom>
            <a:avLst/>
            <a:gdLst/>
            <a:ahLst/>
            <a:cxnLst/>
            <a:rect l="l" t="t" r="r" b="b"/>
            <a:pathLst>
              <a:path w="44988" h="843534">
                <a:moveTo>
                  <a:pt x="0" y="0"/>
                </a:moveTo>
                <a:lnTo>
                  <a:pt x="44988" y="0"/>
                </a:lnTo>
                <a:lnTo>
                  <a:pt x="44988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3733495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2736251" y="4472788"/>
            <a:ext cx="44988" cy="843534"/>
          </a:xfrm>
          <a:custGeom>
            <a:avLst/>
            <a:gdLst/>
            <a:ahLst/>
            <a:cxnLst/>
            <a:rect l="l" t="t" r="r" b="b"/>
            <a:pathLst>
              <a:path w="44988" h="843534">
                <a:moveTo>
                  <a:pt x="0" y="0"/>
                </a:moveTo>
                <a:lnTo>
                  <a:pt x="44988" y="0"/>
                </a:lnTo>
                <a:lnTo>
                  <a:pt x="44988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758745" y="4472788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3501055" y="3172054"/>
            <a:ext cx="52486" cy="843534"/>
          </a:xfrm>
          <a:custGeom>
            <a:avLst/>
            <a:gdLst/>
            <a:ahLst/>
            <a:cxnLst/>
            <a:rect l="l" t="t" r="r" b="b"/>
            <a:pathLst>
              <a:path w="52486" h="843534">
                <a:moveTo>
                  <a:pt x="0" y="0"/>
                </a:moveTo>
                <a:lnTo>
                  <a:pt x="52486" y="0"/>
                </a:lnTo>
                <a:lnTo>
                  <a:pt x="52486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3527298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2938699" y="3172054"/>
            <a:ext cx="52486" cy="843534"/>
          </a:xfrm>
          <a:custGeom>
            <a:avLst/>
            <a:gdLst/>
            <a:ahLst/>
            <a:cxnLst/>
            <a:rect l="l" t="t" r="r" b="b"/>
            <a:pathLst>
              <a:path w="52486" h="843534">
                <a:moveTo>
                  <a:pt x="0" y="0"/>
                </a:moveTo>
                <a:lnTo>
                  <a:pt x="52486" y="0"/>
                </a:lnTo>
                <a:lnTo>
                  <a:pt x="52486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2964942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3636020" y="3172054"/>
            <a:ext cx="44989" cy="843534"/>
          </a:xfrm>
          <a:custGeom>
            <a:avLst/>
            <a:gdLst/>
            <a:ahLst/>
            <a:cxnLst/>
            <a:rect l="l" t="t" r="r" b="b"/>
            <a:pathLst>
              <a:path w="44989" h="843534">
                <a:moveTo>
                  <a:pt x="0" y="0"/>
                </a:moveTo>
                <a:lnTo>
                  <a:pt x="44989" y="0"/>
                </a:lnTo>
                <a:lnTo>
                  <a:pt x="44989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3658514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2811231" y="3172054"/>
            <a:ext cx="44989" cy="843534"/>
          </a:xfrm>
          <a:custGeom>
            <a:avLst/>
            <a:gdLst/>
            <a:ahLst/>
            <a:cxnLst/>
            <a:rect l="l" t="t" r="r" b="b"/>
            <a:pathLst>
              <a:path w="44989" h="843534">
                <a:moveTo>
                  <a:pt x="0" y="0"/>
                </a:moveTo>
                <a:lnTo>
                  <a:pt x="44989" y="0"/>
                </a:lnTo>
                <a:lnTo>
                  <a:pt x="44989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2833726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3711001" y="3172054"/>
            <a:ext cx="44988" cy="843534"/>
          </a:xfrm>
          <a:custGeom>
            <a:avLst/>
            <a:gdLst/>
            <a:ahLst/>
            <a:cxnLst/>
            <a:rect l="l" t="t" r="r" b="b"/>
            <a:pathLst>
              <a:path w="44988" h="843534">
                <a:moveTo>
                  <a:pt x="0" y="0"/>
                </a:moveTo>
                <a:lnTo>
                  <a:pt x="44988" y="0"/>
                </a:lnTo>
                <a:lnTo>
                  <a:pt x="44988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3733495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2736251" y="3172054"/>
            <a:ext cx="44988" cy="843534"/>
          </a:xfrm>
          <a:custGeom>
            <a:avLst/>
            <a:gdLst/>
            <a:ahLst/>
            <a:cxnLst/>
            <a:rect l="l" t="t" r="r" b="b"/>
            <a:pathLst>
              <a:path w="44988" h="843534">
                <a:moveTo>
                  <a:pt x="0" y="0"/>
                </a:moveTo>
                <a:lnTo>
                  <a:pt x="44988" y="0"/>
                </a:lnTo>
                <a:lnTo>
                  <a:pt x="44988" y="843534"/>
                </a:lnTo>
                <a:lnTo>
                  <a:pt x="0" y="843534"/>
                </a:lnTo>
                <a:close/>
              </a:path>
            </a:pathLst>
          </a:custGeom>
          <a:solidFill>
            <a:srgbClr val="C9D6E3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2758745" y="3172054"/>
            <a:ext cx="0" cy="843534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3114904" y="4472788"/>
            <a:ext cx="262432" cy="866028"/>
          </a:xfrm>
          <a:custGeom>
            <a:avLst/>
            <a:gdLst/>
            <a:ahLst/>
            <a:cxnLst/>
            <a:rect l="l" t="t" r="r" b="b"/>
            <a:pathLst>
              <a:path w="262432" h="866028">
                <a:moveTo>
                  <a:pt x="0" y="0"/>
                </a:moveTo>
                <a:lnTo>
                  <a:pt x="262432" y="0"/>
                </a:lnTo>
                <a:lnTo>
                  <a:pt x="262432" y="866028"/>
                </a:lnTo>
                <a:lnTo>
                  <a:pt x="0" y="866028"/>
                </a:lnTo>
                <a:close/>
              </a:path>
            </a:pathLst>
          </a:custGeom>
          <a:solidFill>
            <a:srgbClr val="C9D6E3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3246120" y="4472788"/>
            <a:ext cx="0" cy="866028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3114904" y="2984602"/>
            <a:ext cx="262432" cy="1030986"/>
          </a:xfrm>
          <a:custGeom>
            <a:avLst/>
            <a:gdLst/>
            <a:ahLst/>
            <a:cxnLst/>
            <a:rect l="l" t="t" r="r" b="b"/>
            <a:pathLst>
              <a:path w="262432" h="1030986">
                <a:moveTo>
                  <a:pt x="0" y="0"/>
                </a:moveTo>
                <a:lnTo>
                  <a:pt x="262432" y="0"/>
                </a:lnTo>
                <a:lnTo>
                  <a:pt x="262432" y="1030986"/>
                </a:lnTo>
                <a:lnTo>
                  <a:pt x="0" y="1030986"/>
                </a:lnTo>
                <a:close/>
              </a:path>
            </a:pathLst>
          </a:custGeom>
          <a:solidFill>
            <a:srgbClr val="C9D6E3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3246120" y="2984602"/>
            <a:ext cx="0" cy="1030986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3114949" y="2703424"/>
            <a:ext cx="1630787" cy="284612"/>
          </a:xfrm>
          <a:custGeom>
            <a:avLst/>
            <a:gdLst/>
            <a:ahLst/>
            <a:cxnLst/>
            <a:rect l="l" t="t" r="r" b="b"/>
            <a:pathLst>
              <a:path w="1630787" h="284612">
                <a:moveTo>
                  <a:pt x="131171" y="281178"/>
                </a:moveTo>
                <a:lnTo>
                  <a:pt x="0" y="277743"/>
                </a:lnTo>
                <a:lnTo>
                  <a:pt x="340" y="266462"/>
                </a:lnTo>
                <a:lnTo>
                  <a:pt x="1495" y="251786"/>
                </a:lnTo>
                <a:lnTo>
                  <a:pt x="3416" y="237192"/>
                </a:lnTo>
                <a:lnTo>
                  <a:pt x="6099" y="222717"/>
                </a:lnTo>
                <a:lnTo>
                  <a:pt x="9536" y="208403"/>
                </a:lnTo>
                <a:lnTo>
                  <a:pt x="13716" y="194289"/>
                </a:lnTo>
                <a:lnTo>
                  <a:pt x="18630" y="180412"/>
                </a:lnTo>
                <a:lnTo>
                  <a:pt x="24264" y="166812"/>
                </a:lnTo>
                <a:lnTo>
                  <a:pt x="30601" y="153525"/>
                </a:lnTo>
                <a:lnTo>
                  <a:pt x="37625" y="140589"/>
                </a:lnTo>
                <a:lnTo>
                  <a:pt x="45317" y="128037"/>
                </a:lnTo>
                <a:lnTo>
                  <a:pt x="53655" y="115905"/>
                </a:lnTo>
                <a:lnTo>
                  <a:pt x="62616" y="104227"/>
                </a:lnTo>
                <a:lnTo>
                  <a:pt x="72177" y="93033"/>
                </a:lnTo>
                <a:lnTo>
                  <a:pt x="82310" y="82355"/>
                </a:lnTo>
                <a:lnTo>
                  <a:pt x="92988" y="72222"/>
                </a:lnTo>
                <a:lnTo>
                  <a:pt x="104182" y="62661"/>
                </a:lnTo>
                <a:lnTo>
                  <a:pt x="115860" y="53700"/>
                </a:lnTo>
                <a:lnTo>
                  <a:pt x="127992" y="45362"/>
                </a:lnTo>
                <a:lnTo>
                  <a:pt x="140544" y="37670"/>
                </a:lnTo>
                <a:lnTo>
                  <a:pt x="153480" y="30646"/>
                </a:lnTo>
                <a:lnTo>
                  <a:pt x="166767" y="24309"/>
                </a:lnTo>
                <a:lnTo>
                  <a:pt x="180367" y="18675"/>
                </a:lnTo>
                <a:lnTo>
                  <a:pt x="194244" y="13761"/>
                </a:lnTo>
                <a:lnTo>
                  <a:pt x="208358" y="9581"/>
                </a:lnTo>
                <a:lnTo>
                  <a:pt x="222672" y="6144"/>
                </a:lnTo>
                <a:lnTo>
                  <a:pt x="237147" y="3461"/>
                </a:lnTo>
                <a:lnTo>
                  <a:pt x="251741" y="1540"/>
                </a:lnTo>
                <a:lnTo>
                  <a:pt x="266417" y="385"/>
                </a:lnTo>
                <a:lnTo>
                  <a:pt x="281113" y="0"/>
                </a:lnTo>
                <a:lnTo>
                  <a:pt x="1630787" y="0"/>
                </a:lnTo>
                <a:lnTo>
                  <a:pt x="1630787" y="262432"/>
                </a:lnTo>
                <a:lnTo>
                  <a:pt x="281152" y="262432"/>
                </a:lnTo>
                <a:lnTo>
                  <a:pt x="280152" y="262458"/>
                </a:lnTo>
                <a:lnTo>
                  <a:pt x="279173" y="262535"/>
                </a:lnTo>
                <a:lnTo>
                  <a:pt x="278200" y="262663"/>
                </a:lnTo>
                <a:lnTo>
                  <a:pt x="277235" y="262842"/>
                </a:lnTo>
                <a:lnTo>
                  <a:pt x="276281" y="263071"/>
                </a:lnTo>
                <a:lnTo>
                  <a:pt x="275340" y="263350"/>
                </a:lnTo>
                <a:lnTo>
                  <a:pt x="274415" y="263677"/>
                </a:lnTo>
                <a:lnTo>
                  <a:pt x="273508" y="264053"/>
                </a:lnTo>
                <a:lnTo>
                  <a:pt x="272622" y="264476"/>
                </a:lnTo>
                <a:lnTo>
                  <a:pt x="271760" y="264944"/>
                </a:lnTo>
                <a:lnTo>
                  <a:pt x="270923" y="265457"/>
                </a:lnTo>
                <a:lnTo>
                  <a:pt x="270114" y="266012"/>
                </a:lnTo>
                <a:lnTo>
                  <a:pt x="269336" y="266610"/>
                </a:lnTo>
                <a:lnTo>
                  <a:pt x="268590" y="267247"/>
                </a:lnTo>
                <a:lnTo>
                  <a:pt x="267878" y="267923"/>
                </a:lnTo>
                <a:lnTo>
                  <a:pt x="267202" y="268635"/>
                </a:lnTo>
                <a:lnTo>
                  <a:pt x="266565" y="269381"/>
                </a:lnTo>
                <a:lnTo>
                  <a:pt x="265967" y="270159"/>
                </a:lnTo>
                <a:lnTo>
                  <a:pt x="265412" y="270968"/>
                </a:lnTo>
                <a:lnTo>
                  <a:pt x="264899" y="271805"/>
                </a:lnTo>
                <a:lnTo>
                  <a:pt x="264431" y="272667"/>
                </a:lnTo>
                <a:lnTo>
                  <a:pt x="264008" y="273553"/>
                </a:lnTo>
                <a:lnTo>
                  <a:pt x="263632" y="274460"/>
                </a:lnTo>
                <a:lnTo>
                  <a:pt x="263305" y="275385"/>
                </a:lnTo>
                <a:lnTo>
                  <a:pt x="263026" y="276326"/>
                </a:lnTo>
                <a:lnTo>
                  <a:pt x="262797" y="277280"/>
                </a:lnTo>
                <a:lnTo>
                  <a:pt x="262618" y="278245"/>
                </a:lnTo>
                <a:lnTo>
                  <a:pt x="262490" y="279218"/>
                </a:lnTo>
                <a:lnTo>
                  <a:pt x="262413" y="280197"/>
                </a:lnTo>
                <a:lnTo>
                  <a:pt x="262342" y="284612"/>
                </a:lnTo>
                <a:lnTo>
                  <a:pt x="131171" y="281178"/>
                </a:lnTo>
                <a:close/>
              </a:path>
            </a:pathLst>
          </a:custGeom>
          <a:solidFill>
            <a:srgbClr val="C9D6E3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133687" y="2722169"/>
            <a:ext cx="1612049" cy="265377"/>
          </a:xfrm>
          <a:custGeom>
            <a:avLst/>
            <a:gdLst/>
            <a:ahLst/>
            <a:cxnLst/>
            <a:rect l="l" t="t" r="r" b="b"/>
            <a:pathLst>
              <a:path w="1612049" h="265377">
                <a:moveTo>
                  <a:pt x="112433" y="262433"/>
                </a:moveTo>
                <a:lnTo>
                  <a:pt x="0" y="259488"/>
                </a:lnTo>
                <a:lnTo>
                  <a:pt x="321" y="248698"/>
                </a:lnTo>
                <a:lnTo>
                  <a:pt x="1399" y="235001"/>
                </a:lnTo>
                <a:lnTo>
                  <a:pt x="3193" y="221379"/>
                </a:lnTo>
                <a:lnTo>
                  <a:pt x="5697" y="207870"/>
                </a:lnTo>
                <a:lnTo>
                  <a:pt x="8904" y="194510"/>
                </a:lnTo>
                <a:lnTo>
                  <a:pt x="12806" y="181336"/>
                </a:lnTo>
                <a:lnTo>
                  <a:pt x="17392" y="168385"/>
                </a:lnTo>
                <a:lnTo>
                  <a:pt x="22650" y="155692"/>
                </a:lnTo>
                <a:lnTo>
                  <a:pt x="28565" y="143291"/>
                </a:lnTo>
                <a:lnTo>
                  <a:pt x="35121" y="131216"/>
                </a:lnTo>
                <a:lnTo>
                  <a:pt x="42300" y="119501"/>
                </a:lnTo>
                <a:lnTo>
                  <a:pt x="50082" y="108178"/>
                </a:lnTo>
                <a:lnTo>
                  <a:pt x="58446" y="97278"/>
                </a:lnTo>
                <a:lnTo>
                  <a:pt x="67369" y="86831"/>
                </a:lnTo>
                <a:lnTo>
                  <a:pt x="76827" y="76865"/>
                </a:lnTo>
                <a:lnTo>
                  <a:pt x="86793" y="67407"/>
                </a:lnTo>
                <a:lnTo>
                  <a:pt x="97240" y="58484"/>
                </a:lnTo>
                <a:lnTo>
                  <a:pt x="108140" y="50120"/>
                </a:lnTo>
                <a:lnTo>
                  <a:pt x="119463" y="42338"/>
                </a:lnTo>
                <a:lnTo>
                  <a:pt x="131178" y="35159"/>
                </a:lnTo>
                <a:lnTo>
                  <a:pt x="143253" y="28603"/>
                </a:lnTo>
                <a:lnTo>
                  <a:pt x="155654" y="22688"/>
                </a:lnTo>
                <a:lnTo>
                  <a:pt x="168347" y="17430"/>
                </a:lnTo>
                <a:lnTo>
                  <a:pt x="181298" y="12844"/>
                </a:lnTo>
                <a:lnTo>
                  <a:pt x="194472" y="8942"/>
                </a:lnTo>
                <a:lnTo>
                  <a:pt x="207832" y="5735"/>
                </a:lnTo>
                <a:lnTo>
                  <a:pt x="221341" y="3231"/>
                </a:lnTo>
                <a:lnTo>
                  <a:pt x="234963" y="1437"/>
                </a:lnTo>
                <a:lnTo>
                  <a:pt x="248660" y="359"/>
                </a:lnTo>
                <a:lnTo>
                  <a:pt x="262378" y="0"/>
                </a:lnTo>
                <a:lnTo>
                  <a:pt x="1612049" y="0"/>
                </a:lnTo>
                <a:lnTo>
                  <a:pt x="1612049" y="224942"/>
                </a:lnTo>
                <a:lnTo>
                  <a:pt x="262412" y="224942"/>
                </a:lnTo>
                <a:lnTo>
                  <a:pt x="260433" y="224994"/>
                </a:lnTo>
                <a:lnTo>
                  <a:pt x="258476" y="225148"/>
                </a:lnTo>
                <a:lnTo>
                  <a:pt x="256530" y="225404"/>
                </a:lnTo>
                <a:lnTo>
                  <a:pt x="254600" y="225761"/>
                </a:lnTo>
                <a:lnTo>
                  <a:pt x="252691" y="226220"/>
                </a:lnTo>
                <a:lnTo>
                  <a:pt x="250809" y="226777"/>
                </a:lnTo>
                <a:lnTo>
                  <a:pt x="248959" y="227432"/>
                </a:lnTo>
                <a:lnTo>
                  <a:pt x="247146" y="228183"/>
                </a:lnTo>
                <a:lnTo>
                  <a:pt x="245374" y="229028"/>
                </a:lnTo>
                <a:lnTo>
                  <a:pt x="243649" y="229965"/>
                </a:lnTo>
                <a:lnTo>
                  <a:pt x="241976" y="230991"/>
                </a:lnTo>
                <a:lnTo>
                  <a:pt x="240358" y="232102"/>
                </a:lnTo>
                <a:lnTo>
                  <a:pt x="238801" y="233297"/>
                </a:lnTo>
                <a:lnTo>
                  <a:pt x="237309" y="234572"/>
                </a:lnTo>
                <a:lnTo>
                  <a:pt x="235885" y="235923"/>
                </a:lnTo>
                <a:lnTo>
                  <a:pt x="234534" y="237347"/>
                </a:lnTo>
                <a:lnTo>
                  <a:pt x="233259" y="238839"/>
                </a:lnTo>
                <a:lnTo>
                  <a:pt x="232064" y="240396"/>
                </a:lnTo>
                <a:lnTo>
                  <a:pt x="230953" y="242014"/>
                </a:lnTo>
                <a:lnTo>
                  <a:pt x="229927" y="243687"/>
                </a:lnTo>
                <a:lnTo>
                  <a:pt x="228990" y="245412"/>
                </a:lnTo>
                <a:lnTo>
                  <a:pt x="228145" y="247184"/>
                </a:lnTo>
                <a:lnTo>
                  <a:pt x="227394" y="248997"/>
                </a:lnTo>
                <a:lnTo>
                  <a:pt x="226739" y="250847"/>
                </a:lnTo>
                <a:lnTo>
                  <a:pt x="226182" y="252729"/>
                </a:lnTo>
                <a:lnTo>
                  <a:pt x="225723" y="254638"/>
                </a:lnTo>
                <a:lnTo>
                  <a:pt x="225366" y="256568"/>
                </a:lnTo>
                <a:lnTo>
                  <a:pt x="225110" y="258514"/>
                </a:lnTo>
                <a:lnTo>
                  <a:pt x="224956" y="260471"/>
                </a:lnTo>
                <a:lnTo>
                  <a:pt x="224866" y="265377"/>
                </a:lnTo>
                <a:lnTo>
                  <a:pt x="112433" y="262433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70909" y="301752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  <a:latin typeface="Calibri"/>
              </a:rPr>
              <a:t>central pipe (see detail)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95851" y="2788920"/>
            <a:ext cx="0" cy="210312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077413" y="1447495"/>
            <a:ext cx="18745" cy="586569"/>
          </a:xfrm>
          <a:custGeom>
            <a:avLst/>
            <a:gdLst/>
            <a:ahLst/>
            <a:cxnLst/>
            <a:rect l="l" t="t" r="r" b="b"/>
            <a:pathLst>
              <a:path w="18745" h="586569">
                <a:moveTo>
                  <a:pt x="0" y="0"/>
                </a:moveTo>
                <a:lnTo>
                  <a:pt x="18745" y="0"/>
                </a:lnTo>
                <a:lnTo>
                  <a:pt x="18745" y="586569"/>
                </a:lnTo>
                <a:lnTo>
                  <a:pt x="0" y="586569"/>
                </a:lnTo>
                <a:close/>
              </a:path>
            </a:pathLst>
          </a:custGeom>
          <a:solidFill>
            <a:srgbClr val="C9D6E3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396082" y="1447495"/>
            <a:ext cx="18745" cy="586569"/>
          </a:xfrm>
          <a:custGeom>
            <a:avLst/>
            <a:gdLst/>
            <a:ahLst/>
            <a:cxnLst/>
            <a:rect l="l" t="t" r="r" b="b"/>
            <a:pathLst>
              <a:path w="18745" h="586569">
                <a:moveTo>
                  <a:pt x="0" y="0"/>
                </a:moveTo>
                <a:lnTo>
                  <a:pt x="18745" y="0"/>
                </a:lnTo>
                <a:lnTo>
                  <a:pt x="18745" y="586569"/>
                </a:lnTo>
                <a:lnTo>
                  <a:pt x="0" y="586569"/>
                </a:lnTo>
                <a:close/>
              </a:path>
            </a:pathLst>
          </a:custGeom>
          <a:solidFill>
            <a:srgbClr val="C9D6E3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077413" y="1447495"/>
            <a:ext cx="337414" cy="18745"/>
          </a:xfrm>
          <a:custGeom>
            <a:avLst/>
            <a:gdLst/>
            <a:ahLst/>
            <a:cxnLst/>
            <a:rect l="l" t="t" r="r" b="b"/>
            <a:pathLst>
              <a:path w="337414" h="18745">
                <a:moveTo>
                  <a:pt x="0" y="0"/>
                </a:moveTo>
                <a:lnTo>
                  <a:pt x="337414" y="0"/>
                </a:lnTo>
                <a:lnTo>
                  <a:pt x="337414" y="18745"/>
                </a:lnTo>
                <a:lnTo>
                  <a:pt x="0" y="18745"/>
                </a:lnTo>
                <a:close/>
              </a:path>
            </a:pathLst>
          </a:custGeom>
          <a:solidFill>
            <a:srgbClr val="C9D6E3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396082" y="1638696"/>
            <a:ext cx="581101" cy="179954"/>
          </a:xfrm>
          <a:custGeom>
            <a:avLst/>
            <a:gdLst/>
            <a:ahLst/>
            <a:cxnLst/>
            <a:rect l="l" t="t" r="r" b="b"/>
            <a:pathLst>
              <a:path w="581101" h="179954">
                <a:moveTo>
                  <a:pt x="0" y="0"/>
                </a:moveTo>
                <a:lnTo>
                  <a:pt x="581101" y="0"/>
                </a:lnTo>
                <a:lnTo>
                  <a:pt x="581101" y="179954"/>
                </a:lnTo>
                <a:lnTo>
                  <a:pt x="0" y="179954"/>
                </a:lnTo>
                <a:close/>
              </a:path>
            </a:pathLst>
          </a:custGeom>
          <a:solidFill>
            <a:srgbClr val="C9D6E3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96082" y="1728673"/>
            <a:ext cx="581101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246120" y="5338816"/>
            <a:ext cx="0" cy="906536"/>
          </a:xfrm>
          <a:prstGeom prst="line">
            <a:avLst/>
          </a:prstGeom>
          <a:ln w="889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46120" y="1493215"/>
            <a:ext cx="0" cy="1491387"/>
          </a:xfrm>
          <a:prstGeom prst="line">
            <a:avLst/>
          </a:prstGeom>
          <a:ln w="889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683764" y="4472788"/>
            <a:ext cx="80337" cy="54864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764101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844437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924774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05110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85447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165783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46120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26457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406793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487130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567466" y="44179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47803" y="44179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728139" y="4472788"/>
            <a:ext cx="80337" cy="54864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683764" y="4015588"/>
            <a:ext cx="80337" cy="54864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764101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44437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924774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05110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085447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165783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246120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326457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06793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87130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567466" y="3960724"/>
            <a:ext cx="80337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647803" y="3960724"/>
            <a:ext cx="80336" cy="109728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728139" y="4015588"/>
            <a:ext cx="80337" cy="54864"/>
          </a:xfrm>
          <a:prstGeom prst="line">
            <a:avLst/>
          </a:prstGeom>
          <a:ln w="152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366114" y="5316322"/>
            <a:ext cx="131765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366114" y="3172054"/>
            <a:ext cx="128016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11834" y="4518508"/>
            <a:ext cx="0" cy="797814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411834" y="3172054"/>
            <a:ext cx="0" cy="797814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356970" y="4445356"/>
            <a:ext cx="109728" cy="54864"/>
          </a:xfrm>
          <a:prstGeom prst="line">
            <a:avLst/>
          </a:prstGeom>
          <a:ln w="1524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56970" y="3988156"/>
            <a:ext cx="109728" cy="54864"/>
          </a:xfrm>
          <a:prstGeom prst="line">
            <a:avLst/>
          </a:prstGeom>
          <a:ln w="1524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137514" y="41344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1F3A5F"/>
                </a:solidFill>
                <a:latin typeface="Calibri"/>
              </a:rPr>
              <a:t>bundle_height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2097634" y="5691226"/>
            <a:ext cx="5486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2097634" y="5316322"/>
            <a:ext cx="5486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143354" y="5316322"/>
            <a:ext cx="0" cy="374904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0274" y="539404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1F3A5F"/>
                </a:solidFill>
                <a:latin typeface="Calibri"/>
              </a:rPr>
              <a:t>lower_plenum_height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2097634" y="3172054"/>
            <a:ext cx="5486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2097634" y="2609698"/>
            <a:ext cx="5486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143354" y="2609698"/>
            <a:ext cx="0" cy="562356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0274" y="278114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1F3A5F"/>
                </a:solidFill>
                <a:latin typeface="Calibri"/>
              </a:rPr>
              <a:t>upper_plenum_height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46120" y="5560009"/>
            <a:ext cx="562356" cy="0"/>
          </a:xfrm>
          <a:prstGeom prst="line">
            <a:avLst/>
          </a:prstGeom>
          <a:ln w="12700">
            <a:solidFill>
              <a:srgbClr val="0F76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750058" y="560572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F766E"/>
                </a:solidFill>
                <a:latin typeface="Calibri"/>
              </a:rPr>
              <a:t>lower_plenum_inner_radius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246120" y="2722169"/>
            <a:ext cx="562356" cy="0"/>
          </a:xfrm>
          <a:prstGeom prst="line">
            <a:avLst/>
          </a:prstGeom>
          <a:ln w="12700">
            <a:solidFill>
              <a:srgbClr val="0F76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750058" y="248442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F766E"/>
                </a:solidFill>
                <a:latin typeface="Calibri"/>
              </a:rPr>
              <a:t>upper_plenum_inner_radius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2821965" y="5691226"/>
            <a:ext cx="424155" cy="424155"/>
          </a:xfrm>
          <a:prstGeom prst="line">
            <a:avLst/>
          </a:prstGeom>
          <a:ln w="127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450878" y="5931987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Calibri"/>
              </a:rPr>
              <a:t>lower_plenum_</a:t>
            </a:r>
          </a:p>
          <a:p>
            <a:pPr algn="r"/>
            <a:r>
              <a:rPr sz="850" b="1" i="0">
                <a:solidFill>
                  <a:srgbClr val="0F766E"/>
                </a:solidFill>
                <a:latin typeface="Calibri"/>
              </a:rPr>
              <a:t>dome_radius</a:t>
            </a:r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2902062" y="2118332"/>
            <a:ext cx="344058" cy="491366"/>
          </a:xfrm>
          <a:prstGeom prst="line">
            <a:avLst/>
          </a:prstGeom>
          <a:ln w="127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529608" y="2173437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Calibri"/>
              </a:rPr>
              <a:t>upper_plenum_</a:t>
            </a:r>
          </a:p>
          <a:p>
            <a:pPr algn="r"/>
            <a:r>
              <a:rPr sz="850" b="1" i="0">
                <a:solidFill>
                  <a:srgbClr val="0F766E"/>
                </a:solidFill>
                <a:latin typeface="Calibri"/>
              </a:rPr>
              <a:t>dome_radius</a:t>
            </a:r>
          </a:p>
        </p:txBody>
      </p:sp>
      <p:cxnSp>
        <p:nvCxnSpPr>
          <p:cNvPr id="107" name="Connector 106"/>
          <p:cNvCxnSpPr/>
          <p:nvPr/>
        </p:nvCxnSpPr>
        <p:spPr>
          <a:xfrm flipH="1">
            <a:off x="2234794" y="5616245"/>
            <a:ext cx="430225" cy="274320"/>
          </a:xfrm>
          <a:prstGeom prst="line">
            <a:avLst/>
          </a:prstGeom>
          <a:ln w="889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00354" y="5799125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>
                <a:solidFill>
                  <a:srgbClr val="B91C1C"/>
                </a:solidFill>
                <a:latin typeface="Calibri"/>
              </a:rPr>
              <a:t>lower_plenum_wall</a:t>
            </a:r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827221" y="2556205"/>
            <a:ext cx="521665" cy="109728"/>
          </a:xfrm>
          <a:prstGeom prst="line">
            <a:avLst/>
          </a:prstGeom>
          <a:ln w="889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394606" y="244647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B91C1C"/>
                </a:solidFill>
                <a:latin typeface="Calibri"/>
              </a:rPr>
              <a:t>upper_plenum_wall</a:t>
            </a:r>
          </a:p>
        </p:txBody>
      </p:sp>
      <p:cxnSp>
        <p:nvCxnSpPr>
          <p:cNvPr id="111" name="Connector 110"/>
          <p:cNvCxnSpPr/>
          <p:nvPr/>
        </p:nvCxnSpPr>
        <p:spPr>
          <a:xfrm flipH="1">
            <a:off x="2848813" y="2009851"/>
            <a:ext cx="22860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2848813" y="1447495"/>
            <a:ext cx="22860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803093" y="1447495"/>
            <a:ext cx="0" cy="562356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385773" y="161894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riser_height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3414827" y="1510680"/>
            <a:ext cx="0" cy="128016"/>
          </a:xfrm>
          <a:prstGeom prst="line">
            <a:avLst/>
          </a:prstGeom>
          <a:ln w="7620">
            <a:solidFill>
              <a:srgbClr val="C257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977183" y="1510680"/>
            <a:ext cx="0" cy="128016"/>
          </a:xfrm>
          <a:prstGeom prst="line">
            <a:avLst/>
          </a:prstGeom>
          <a:ln w="7620">
            <a:solidFill>
              <a:srgbClr val="C257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414827" y="1474104"/>
            <a:ext cx="562356" cy="0"/>
          </a:xfrm>
          <a:prstGeom prst="line">
            <a:avLst/>
          </a:prstGeom>
          <a:ln w="13970">
            <a:solidFill>
              <a:srgbClr val="C2570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918765" y="120892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C2570C"/>
                </a:solidFill>
                <a:latin typeface="Calibri"/>
              </a:rPr>
              <a:t>lateral_pipe_length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977183" y="2009851"/>
            <a:ext cx="3200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977183" y="1728673"/>
            <a:ext cx="3200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251503" y="1728673"/>
            <a:ext cx="0" cy="281178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342943" y="1759534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F3A5F"/>
                </a:solidFill>
                <a:latin typeface="Calibri"/>
              </a:rPr>
              <a:t>lateral_pipe_</a:t>
            </a:r>
          </a:p>
          <a:p>
            <a:pPr algn="l"/>
            <a:r>
              <a:rPr sz="850" b="1" i="0">
                <a:solidFill>
                  <a:srgbClr val="1F3A5F"/>
                </a:solidFill>
                <a:latin typeface="Calibri"/>
              </a:rPr>
              <a:t>z_offset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87000" y="51663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33D4F"/>
                </a:solidFill>
                <a:latin typeface="Calibri"/>
              </a:rPr>
              <a:t>Parameter colour key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10287000" y="5440680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561320" y="540410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Radius</a:t>
            </a:r>
          </a:p>
        </p:txBody>
      </p:sp>
      <p:sp>
        <p:nvSpPr>
          <p:cNvPr id="126" name="Freeform 125"/>
          <p:cNvSpPr/>
          <p:nvPr/>
        </p:nvSpPr>
        <p:spPr>
          <a:xfrm>
            <a:off x="10287000" y="5687568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61320" y="565099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Height / axial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0287000" y="5934456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C25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561320" y="589788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Length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10287000" y="6181344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561320" y="61447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Thickness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10287000" y="6428232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561320" y="639165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Angle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333D4F"/>
                </a:solidFill>
                <a:latin typeface="Georgia"/>
              </a:rPr>
              <a:t>IHX central pipe — routing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On-axis vertical riser → 90° bend inside the upper plenum → horizontal exit through the +X wall (shown in the XZ plane of the bend)</a:t>
            </a:r>
          </a:p>
        </p:txBody>
      </p:sp>
      <p:sp>
        <p:nvSpPr>
          <p:cNvPr id="4" name="Freeform 3"/>
          <p:cNvSpPr/>
          <p:nvPr/>
        </p:nvSpPr>
        <p:spPr>
          <a:xfrm>
            <a:off x="2424989" y="4440326"/>
            <a:ext cx="2567635" cy="131674"/>
          </a:xfrm>
          <a:custGeom>
            <a:avLst/>
            <a:gdLst/>
            <a:ahLst/>
            <a:cxnLst/>
            <a:rect l="l" t="t" r="r" b="b"/>
            <a:pathLst>
              <a:path w="2567635" h="131674">
                <a:moveTo>
                  <a:pt x="0" y="0"/>
                </a:moveTo>
                <a:lnTo>
                  <a:pt x="2567635" y="0"/>
                </a:lnTo>
                <a:lnTo>
                  <a:pt x="2567635" y="131674"/>
                </a:lnTo>
                <a:lnTo>
                  <a:pt x="0" y="131674"/>
                </a:lnTo>
                <a:close/>
              </a:path>
            </a:pathLst>
          </a:custGeom>
          <a:solidFill>
            <a:srgbClr val="EDF1F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06701" y="46268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upper-plenum bottom plate</a:t>
            </a:r>
          </a:p>
        </p:txBody>
      </p:sp>
      <p:sp>
        <p:nvSpPr>
          <p:cNvPr id="6" name="Freeform 5"/>
          <p:cNvSpPr/>
          <p:nvPr/>
        </p:nvSpPr>
        <p:spPr>
          <a:xfrm>
            <a:off x="4992624" y="2596896"/>
            <a:ext cx="131674" cy="2172614"/>
          </a:xfrm>
          <a:custGeom>
            <a:avLst/>
            <a:gdLst/>
            <a:ahLst/>
            <a:cxnLst/>
            <a:rect l="l" t="t" r="r" b="b"/>
            <a:pathLst>
              <a:path w="131674" h="2172614">
                <a:moveTo>
                  <a:pt x="0" y="0"/>
                </a:moveTo>
                <a:lnTo>
                  <a:pt x="131674" y="0"/>
                </a:lnTo>
                <a:lnTo>
                  <a:pt x="131674" y="2172614"/>
                </a:lnTo>
                <a:lnTo>
                  <a:pt x="0" y="2172614"/>
                </a:lnTo>
                <a:close/>
              </a:path>
            </a:pathLst>
          </a:custGeom>
          <a:solidFill>
            <a:srgbClr val="EDF1F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0874" y="268833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upper-plenum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+X wall</a:t>
            </a:r>
          </a:p>
        </p:txBody>
      </p:sp>
      <p:sp>
        <p:nvSpPr>
          <p:cNvPr id="8" name="Freeform 7"/>
          <p:cNvSpPr/>
          <p:nvPr/>
        </p:nvSpPr>
        <p:spPr>
          <a:xfrm>
            <a:off x="2556662" y="2926080"/>
            <a:ext cx="5727802" cy="1777594"/>
          </a:xfrm>
          <a:custGeom>
            <a:avLst/>
            <a:gdLst/>
            <a:ahLst/>
            <a:cxnLst/>
            <a:rect l="l" t="t" r="r" b="b"/>
            <a:pathLst>
              <a:path w="5727802" h="1777594">
                <a:moveTo>
                  <a:pt x="0" y="1777594"/>
                </a:moveTo>
                <a:lnTo>
                  <a:pt x="0" y="987552"/>
                </a:lnTo>
                <a:lnTo>
                  <a:pt x="158" y="975488"/>
                </a:lnTo>
                <a:lnTo>
                  <a:pt x="1354" y="935868"/>
                </a:lnTo>
                <a:lnTo>
                  <a:pt x="5410" y="884325"/>
                </a:lnTo>
                <a:lnTo>
                  <a:pt x="12159" y="833065"/>
                </a:lnTo>
                <a:lnTo>
                  <a:pt x="21581" y="782228"/>
                </a:lnTo>
                <a:lnTo>
                  <a:pt x="33650" y="731955"/>
                </a:lnTo>
                <a:lnTo>
                  <a:pt x="48335" y="682382"/>
                </a:lnTo>
                <a:lnTo>
                  <a:pt x="65593" y="633645"/>
                </a:lnTo>
                <a:lnTo>
                  <a:pt x="85379" y="585878"/>
                </a:lnTo>
                <a:lnTo>
                  <a:pt x="107637" y="539213"/>
                </a:lnTo>
                <a:lnTo>
                  <a:pt x="132307" y="493776"/>
                </a:lnTo>
                <a:lnTo>
                  <a:pt x="159322" y="449693"/>
                </a:lnTo>
                <a:lnTo>
                  <a:pt x="188606" y="407083"/>
                </a:lnTo>
                <a:lnTo>
                  <a:pt x="220080" y="366065"/>
                </a:lnTo>
                <a:lnTo>
                  <a:pt x="253658" y="326751"/>
                </a:lnTo>
                <a:lnTo>
                  <a:pt x="289248" y="289247"/>
                </a:lnTo>
                <a:lnTo>
                  <a:pt x="326751" y="253658"/>
                </a:lnTo>
                <a:lnTo>
                  <a:pt x="366066" y="220080"/>
                </a:lnTo>
                <a:lnTo>
                  <a:pt x="407084" y="188606"/>
                </a:lnTo>
                <a:lnTo>
                  <a:pt x="449693" y="159321"/>
                </a:lnTo>
                <a:lnTo>
                  <a:pt x="493776" y="132307"/>
                </a:lnTo>
                <a:lnTo>
                  <a:pt x="539213" y="107637"/>
                </a:lnTo>
                <a:lnTo>
                  <a:pt x="585879" y="85378"/>
                </a:lnTo>
                <a:lnTo>
                  <a:pt x="633645" y="65593"/>
                </a:lnTo>
                <a:lnTo>
                  <a:pt x="682382" y="48334"/>
                </a:lnTo>
                <a:lnTo>
                  <a:pt x="731955" y="33650"/>
                </a:lnTo>
                <a:lnTo>
                  <a:pt x="782229" y="21580"/>
                </a:lnTo>
                <a:lnTo>
                  <a:pt x="833065" y="12158"/>
                </a:lnTo>
                <a:lnTo>
                  <a:pt x="884325" y="5410"/>
                </a:lnTo>
                <a:lnTo>
                  <a:pt x="935868" y="1353"/>
                </a:lnTo>
                <a:lnTo>
                  <a:pt x="987483" y="0"/>
                </a:lnTo>
                <a:lnTo>
                  <a:pt x="5727802" y="0"/>
                </a:lnTo>
                <a:lnTo>
                  <a:pt x="5727802" y="921715"/>
                </a:lnTo>
                <a:lnTo>
                  <a:pt x="987622" y="921715"/>
                </a:lnTo>
                <a:lnTo>
                  <a:pt x="984107" y="921805"/>
                </a:lnTo>
                <a:lnTo>
                  <a:pt x="980671" y="922076"/>
                </a:lnTo>
                <a:lnTo>
                  <a:pt x="977253" y="922526"/>
                </a:lnTo>
                <a:lnTo>
                  <a:pt x="973864" y="923154"/>
                </a:lnTo>
                <a:lnTo>
                  <a:pt x="970513" y="923959"/>
                </a:lnTo>
                <a:lnTo>
                  <a:pt x="967208" y="924937"/>
                </a:lnTo>
                <a:lnTo>
                  <a:pt x="963959" y="926088"/>
                </a:lnTo>
                <a:lnTo>
                  <a:pt x="960774" y="927407"/>
                </a:lnTo>
                <a:lnTo>
                  <a:pt x="957663" y="928891"/>
                </a:lnTo>
                <a:lnTo>
                  <a:pt x="954634" y="930536"/>
                </a:lnTo>
                <a:lnTo>
                  <a:pt x="951695" y="932337"/>
                </a:lnTo>
                <a:lnTo>
                  <a:pt x="948854" y="934289"/>
                </a:lnTo>
                <a:lnTo>
                  <a:pt x="946120" y="936387"/>
                </a:lnTo>
                <a:lnTo>
                  <a:pt x="943499" y="938626"/>
                </a:lnTo>
                <a:lnTo>
                  <a:pt x="940999" y="940998"/>
                </a:lnTo>
                <a:lnTo>
                  <a:pt x="938626" y="943499"/>
                </a:lnTo>
                <a:lnTo>
                  <a:pt x="936388" y="946120"/>
                </a:lnTo>
                <a:lnTo>
                  <a:pt x="934289" y="948854"/>
                </a:lnTo>
                <a:lnTo>
                  <a:pt x="932337" y="951695"/>
                </a:lnTo>
                <a:lnTo>
                  <a:pt x="930536" y="954634"/>
                </a:lnTo>
                <a:lnTo>
                  <a:pt x="928891" y="957663"/>
                </a:lnTo>
                <a:lnTo>
                  <a:pt x="927407" y="960774"/>
                </a:lnTo>
                <a:lnTo>
                  <a:pt x="926088" y="963958"/>
                </a:lnTo>
                <a:lnTo>
                  <a:pt x="924938" y="967207"/>
                </a:lnTo>
                <a:lnTo>
                  <a:pt x="923959" y="970512"/>
                </a:lnTo>
                <a:lnTo>
                  <a:pt x="923154" y="973864"/>
                </a:lnTo>
                <a:lnTo>
                  <a:pt x="922526" y="977253"/>
                </a:lnTo>
                <a:lnTo>
                  <a:pt x="922076" y="980670"/>
                </a:lnTo>
                <a:lnTo>
                  <a:pt x="921806" y="984106"/>
                </a:lnTo>
                <a:lnTo>
                  <a:pt x="921558" y="999616"/>
                </a:lnTo>
                <a:lnTo>
                  <a:pt x="921716" y="987552"/>
                </a:lnTo>
                <a:lnTo>
                  <a:pt x="921716" y="1777594"/>
                </a:lnTo>
                <a:close/>
              </a:path>
            </a:pathLst>
          </a:custGeom>
          <a:solidFill>
            <a:srgbClr val="C9D6E3"/>
          </a:solidFill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622499" y="2991917"/>
            <a:ext cx="5661965" cy="1711757"/>
          </a:xfrm>
          <a:custGeom>
            <a:avLst/>
            <a:gdLst/>
            <a:ahLst/>
            <a:cxnLst/>
            <a:rect l="l" t="t" r="r" b="b"/>
            <a:pathLst>
              <a:path w="5661965" h="1711757">
                <a:moveTo>
                  <a:pt x="0" y="1711757"/>
                </a:moveTo>
                <a:lnTo>
                  <a:pt x="0" y="921715"/>
                </a:lnTo>
                <a:lnTo>
                  <a:pt x="136" y="911375"/>
                </a:lnTo>
                <a:lnTo>
                  <a:pt x="1263" y="873476"/>
                </a:lnTo>
                <a:lnTo>
                  <a:pt x="5049" y="825370"/>
                </a:lnTo>
                <a:lnTo>
                  <a:pt x="11348" y="777527"/>
                </a:lnTo>
                <a:lnTo>
                  <a:pt x="20142" y="730080"/>
                </a:lnTo>
                <a:lnTo>
                  <a:pt x="31407" y="683158"/>
                </a:lnTo>
                <a:lnTo>
                  <a:pt x="45112" y="636889"/>
                </a:lnTo>
                <a:lnTo>
                  <a:pt x="61220" y="591402"/>
                </a:lnTo>
                <a:lnTo>
                  <a:pt x="79687" y="546820"/>
                </a:lnTo>
                <a:lnTo>
                  <a:pt x="100461" y="503265"/>
                </a:lnTo>
                <a:lnTo>
                  <a:pt x="123487" y="460857"/>
                </a:lnTo>
                <a:lnTo>
                  <a:pt x="148700" y="419713"/>
                </a:lnTo>
                <a:lnTo>
                  <a:pt x="176032" y="379944"/>
                </a:lnTo>
                <a:lnTo>
                  <a:pt x="205408" y="341661"/>
                </a:lnTo>
                <a:lnTo>
                  <a:pt x="236748" y="304967"/>
                </a:lnTo>
                <a:lnTo>
                  <a:pt x="269964" y="269964"/>
                </a:lnTo>
                <a:lnTo>
                  <a:pt x="304968" y="236747"/>
                </a:lnTo>
                <a:lnTo>
                  <a:pt x="341661" y="205408"/>
                </a:lnTo>
                <a:lnTo>
                  <a:pt x="379945" y="176032"/>
                </a:lnTo>
                <a:lnTo>
                  <a:pt x="419713" y="148700"/>
                </a:lnTo>
                <a:lnTo>
                  <a:pt x="460858" y="123486"/>
                </a:lnTo>
                <a:lnTo>
                  <a:pt x="503265" y="100461"/>
                </a:lnTo>
                <a:lnTo>
                  <a:pt x="546820" y="79686"/>
                </a:lnTo>
                <a:lnTo>
                  <a:pt x="591402" y="61220"/>
                </a:lnTo>
                <a:lnTo>
                  <a:pt x="636890" y="45112"/>
                </a:lnTo>
                <a:lnTo>
                  <a:pt x="683158" y="31406"/>
                </a:lnTo>
                <a:lnTo>
                  <a:pt x="730080" y="20141"/>
                </a:lnTo>
                <a:lnTo>
                  <a:pt x="777527" y="11348"/>
                </a:lnTo>
                <a:lnTo>
                  <a:pt x="825370" y="5049"/>
                </a:lnTo>
                <a:lnTo>
                  <a:pt x="873477" y="1263"/>
                </a:lnTo>
                <a:lnTo>
                  <a:pt x="921656" y="0"/>
                </a:lnTo>
                <a:lnTo>
                  <a:pt x="5661965" y="0"/>
                </a:lnTo>
                <a:lnTo>
                  <a:pt x="5661965" y="790041"/>
                </a:lnTo>
                <a:lnTo>
                  <a:pt x="921775" y="790041"/>
                </a:lnTo>
                <a:lnTo>
                  <a:pt x="914824" y="790222"/>
                </a:lnTo>
                <a:lnTo>
                  <a:pt x="907952" y="790763"/>
                </a:lnTo>
                <a:lnTo>
                  <a:pt x="901117" y="791663"/>
                </a:lnTo>
                <a:lnTo>
                  <a:pt x="894339" y="792919"/>
                </a:lnTo>
                <a:lnTo>
                  <a:pt x="887636" y="794528"/>
                </a:lnTo>
                <a:lnTo>
                  <a:pt x="881026" y="796486"/>
                </a:lnTo>
                <a:lnTo>
                  <a:pt x="874528" y="798787"/>
                </a:lnTo>
                <a:lnTo>
                  <a:pt x="868159" y="801425"/>
                </a:lnTo>
                <a:lnTo>
                  <a:pt x="861937" y="804393"/>
                </a:lnTo>
                <a:lnTo>
                  <a:pt x="855879" y="807682"/>
                </a:lnTo>
                <a:lnTo>
                  <a:pt x="850001" y="811284"/>
                </a:lnTo>
                <a:lnTo>
                  <a:pt x="844320" y="815189"/>
                </a:lnTo>
                <a:lnTo>
                  <a:pt x="838851" y="819385"/>
                </a:lnTo>
                <a:lnTo>
                  <a:pt x="833609" y="823862"/>
                </a:lnTo>
                <a:lnTo>
                  <a:pt x="828608" y="828608"/>
                </a:lnTo>
                <a:lnTo>
                  <a:pt x="823863" y="833608"/>
                </a:lnTo>
                <a:lnTo>
                  <a:pt x="819386" y="838850"/>
                </a:lnTo>
                <a:lnTo>
                  <a:pt x="815189" y="844319"/>
                </a:lnTo>
                <a:lnTo>
                  <a:pt x="811285" y="850000"/>
                </a:lnTo>
                <a:lnTo>
                  <a:pt x="807683" y="855878"/>
                </a:lnTo>
                <a:lnTo>
                  <a:pt x="804393" y="861936"/>
                </a:lnTo>
                <a:lnTo>
                  <a:pt x="801426" y="868159"/>
                </a:lnTo>
                <a:lnTo>
                  <a:pt x="798788" y="874527"/>
                </a:lnTo>
                <a:lnTo>
                  <a:pt x="796486" y="881026"/>
                </a:lnTo>
                <a:lnTo>
                  <a:pt x="794528" y="887635"/>
                </a:lnTo>
                <a:lnTo>
                  <a:pt x="792919" y="894339"/>
                </a:lnTo>
                <a:lnTo>
                  <a:pt x="791663" y="901117"/>
                </a:lnTo>
                <a:lnTo>
                  <a:pt x="790763" y="907951"/>
                </a:lnTo>
                <a:lnTo>
                  <a:pt x="790222" y="914824"/>
                </a:lnTo>
                <a:lnTo>
                  <a:pt x="789906" y="932055"/>
                </a:lnTo>
                <a:lnTo>
                  <a:pt x="790042" y="921715"/>
                </a:lnTo>
                <a:lnTo>
                  <a:pt x="790042" y="1711757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3913632"/>
            <a:ext cx="0" cy="790042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3913632"/>
            <a:ext cx="0" cy="0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17520" y="3886067"/>
            <a:ext cx="722" cy="27565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18242" y="3858577"/>
            <a:ext cx="2163" cy="27490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020405" y="3831239"/>
            <a:ext cx="3599" cy="27338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24004" y="3804126"/>
            <a:ext cx="5026" cy="27113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29030" y="3777313"/>
            <a:ext cx="6437" cy="26813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35467" y="3750874"/>
            <a:ext cx="7831" cy="26439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043298" y="3724882"/>
            <a:ext cx="9205" cy="25992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52503" y="3699406"/>
            <a:ext cx="10552" cy="25476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63055" y="3674518"/>
            <a:ext cx="11871" cy="24888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926" y="3650285"/>
            <a:ext cx="13158" cy="24233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88084" y="3626774"/>
            <a:ext cx="14407" cy="23511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102491" y="3604049"/>
            <a:ext cx="15619" cy="22725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18110" y="3582172"/>
            <a:ext cx="16786" cy="21877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34896" y="3561205"/>
            <a:ext cx="17908" cy="20967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152804" y="3541203"/>
            <a:ext cx="18981" cy="20002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71785" y="3522222"/>
            <a:ext cx="20002" cy="18981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91787" y="3504314"/>
            <a:ext cx="20968" cy="17908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12755" y="3487527"/>
            <a:ext cx="21876" cy="16787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234631" y="3471909"/>
            <a:ext cx="22725" cy="15618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257356" y="3457501"/>
            <a:ext cx="23511" cy="14408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80867" y="3444344"/>
            <a:ext cx="24233" cy="13157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305100" y="3432473"/>
            <a:ext cx="24888" cy="11871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329988" y="3421920"/>
            <a:ext cx="25476" cy="10553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355464" y="3412716"/>
            <a:ext cx="25993" cy="9204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81457" y="3404884"/>
            <a:ext cx="26439" cy="7832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07896" y="3398447"/>
            <a:ext cx="26812" cy="6437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434708" y="3393422"/>
            <a:ext cx="27113" cy="5025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461821" y="3389823"/>
            <a:ext cx="27339" cy="3599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89160" y="3387659"/>
            <a:ext cx="27489" cy="2164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516649" y="3386938"/>
            <a:ext cx="27565" cy="721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544214" y="3386938"/>
            <a:ext cx="4740250" cy="0"/>
          </a:xfrm>
          <a:prstGeom prst="line">
            <a:avLst/>
          </a:prstGeom>
          <a:ln w="12700">
            <a:solidFill>
              <a:srgbClr val="333D4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80206" y="3913632"/>
            <a:ext cx="128016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44214" y="3849624"/>
            <a:ext cx="0" cy="128016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171785" y="3541203"/>
            <a:ext cx="372429" cy="372429"/>
          </a:xfrm>
          <a:prstGeom prst="line">
            <a:avLst/>
          </a:prstGeom>
          <a:ln w="1397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88705" y="3230307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0F766E"/>
                </a:solidFill>
                <a:latin typeface="Calibri"/>
              </a:rPr>
              <a:t>central_pipe_bend_radius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078" y="39502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Calibri"/>
              </a:rPr>
              <a:t>C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518967" y="3623950"/>
            <a:ext cx="25247" cy="1102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493912" y="3625052"/>
            <a:ext cx="25055" cy="3299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469239" y="3628351"/>
            <a:ext cx="24673" cy="547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445137" y="3633821"/>
            <a:ext cx="24102" cy="7599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421790" y="3641420"/>
            <a:ext cx="23347" cy="9671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399373" y="3651091"/>
            <a:ext cx="22417" cy="11669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378060" y="3662760"/>
            <a:ext cx="21313" cy="13578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358010" y="3676338"/>
            <a:ext cx="20050" cy="15385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3339378" y="3691723"/>
            <a:ext cx="18632" cy="17073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322305" y="3708796"/>
            <a:ext cx="17073" cy="18632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306921" y="3727428"/>
            <a:ext cx="15384" cy="20049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293342" y="3747477"/>
            <a:ext cx="13579" cy="21314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281673" y="3768791"/>
            <a:ext cx="11669" cy="22416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272002" y="3791207"/>
            <a:ext cx="9671" cy="23348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3264403" y="3814555"/>
            <a:ext cx="7599" cy="24102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3258933" y="3838657"/>
            <a:ext cx="5470" cy="24672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255635" y="3863329"/>
            <a:ext cx="3298" cy="25056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3254532" y="3888385"/>
            <a:ext cx="1103" cy="25247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544214" y="3534412"/>
            <a:ext cx="0" cy="379220"/>
          </a:xfrm>
          <a:prstGeom prst="line">
            <a:avLst/>
          </a:prstGeom>
          <a:ln w="7620">
            <a:solidFill>
              <a:srgbClr val="6D28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3164994" y="3913632"/>
            <a:ext cx="379220" cy="0"/>
          </a:xfrm>
          <a:prstGeom prst="line">
            <a:avLst/>
          </a:prstGeom>
          <a:ln w="7620">
            <a:solidFill>
              <a:srgbClr val="6D28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952415" y="347735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90°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008022" y="4572000"/>
            <a:ext cx="548640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008022" y="3913632"/>
            <a:ext cx="1536192" cy="0"/>
          </a:xfrm>
          <a:prstGeom prst="line">
            <a:avLst/>
          </a:prstGeom>
          <a:ln w="76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053742" y="3913632"/>
            <a:ext cx="0" cy="658368"/>
          </a:xfrm>
          <a:prstGeom prst="line">
            <a:avLst/>
          </a:prstGeom>
          <a:ln w="13970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62102" y="413308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 i="0">
                <a:solidFill>
                  <a:srgbClr val="1F3A5F"/>
                </a:solidFill>
                <a:latin typeface="Calibri"/>
              </a:rPr>
              <a:t>central_pipe_z_offset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5650992" y="2606040"/>
            <a:ext cx="0" cy="320040"/>
          </a:xfrm>
          <a:prstGeom prst="line">
            <a:avLst/>
          </a:prstGeom>
          <a:ln w="7620">
            <a:solidFill>
              <a:srgbClr val="C257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284464" y="2606040"/>
            <a:ext cx="0" cy="320040"/>
          </a:xfrm>
          <a:prstGeom prst="line">
            <a:avLst/>
          </a:prstGeom>
          <a:ln w="7620">
            <a:solidFill>
              <a:srgbClr val="C257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50992" y="2560320"/>
            <a:ext cx="2633472" cy="0"/>
          </a:xfrm>
          <a:prstGeom prst="line">
            <a:avLst/>
          </a:prstGeom>
          <a:ln w="13970">
            <a:solidFill>
              <a:srgbClr val="C2570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190488" y="229514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C2570C"/>
                </a:solidFill>
                <a:latin typeface="Calibri"/>
              </a:rPr>
              <a:t>central_pipe_horiz_len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8284464" y="2926080"/>
            <a:ext cx="0" cy="460858"/>
          </a:xfrm>
          <a:prstGeom prst="line">
            <a:avLst/>
          </a:prstGeom>
          <a:ln w="11430">
            <a:solidFill>
              <a:srgbClr val="0F766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781544" y="26700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0F766E"/>
                </a:solidFill>
                <a:latin typeface="Calibri"/>
              </a:rPr>
              <a:t>central_pipe_inner_radius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284464" y="3847795"/>
            <a:ext cx="457200" cy="256032"/>
          </a:xfrm>
          <a:prstGeom prst="line">
            <a:avLst/>
          </a:prstGeom>
          <a:ln w="76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284464" y="3781958"/>
            <a:ext cx="457200" cy="256032"/>
          </a:xfrm>
          <a:prstGeom prst="line">
            <a:avLst/>
          </a:prstGeom>
          <a:ln w="762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695944" y="4037990"/>
            <a:ext cx="0" cy="65837"/>
          </a:xfrm>
          <a:prstGeom prst="line">
            <a:avLst/>
          </a:prstGeom>
          <a:ln w="13970">
            <a:solidFill>
              <a:srgbClr val="B91C1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814816" y="3906317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B91C1C"/>
                </a:solidFill>
                <a:latin typeface="Calibri"/>
              </a:rPr>
              <a:t>central_pipe_wall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87000" y="11430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33D4F"/>
                </a:solidFill>
                <a:latin typeface="Calibri"/>
              </a:rPr>
              <a:t>Parameter colour key</a:t>
            </a:r>
          </a:p>
        </p:txBody>
      </p:sp>
      <p:sp>
        <p:nvSpPr>
          <p:cNvPr id="84" name="Freeform 83"/>
          <p:cNvSpPr/>
          <p:nvPr/>
        </p:nvSpPr>
        <p:spPr>
          <a:xfrm>
            <a:off x="10287000" y="1417320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61320" y="138074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Radius</a:t>
            </a:r>
          </a:p>
        </p:txBody>
      </p:sp>
      <p:sp>
        <p:nvSpPr>
          <p:cNvPr id="86" name="Freeform 85"/>
          <p:cNvSpPr/>
          <p:nvPr/>
        </p:nvSpPr>
        <p:spPr>
          <a:xfrm>
            <a:off x="10287000" y="1664208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1320" y="16276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Height / axial</a:t>
            </a:r>
          </a:p>
        </p:txBody>
      </p:sp>
      <p:sp>
        <p:nvSpPr>
          <p:cNvPr id="88" name="Freeform 87"/>
          <p:cNvSpPr/>
          <p:nvPr/>
        </p:nvSpPr>
        <p:spPr>
          <a:xfrm>
            <a:off x="10287000" y="1911096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C25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1320" y="187452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Length</a:t>
            </a:r>
          </a:p>
        </p:txBody>
      </p:sp>
      <p:sp>
        <p:nvSpPr>
          <p:cNvPr id="90" name="Freeform 89"/>
          <p:cNvSpPr/>
          <p:nvPr/>
        </p:nvSpPr>
        <p:spPr>
          <a:xfrm>
            <a:off x="10287000" y="2157984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1320" y="212140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Thickness</a:t>
            </a:r>
          </a:p>
        </p:txBody>
      </p:sp>
      <p:sp>
        <p:nvSpPr>
          <p:cNvPr id="92" name="Freeform 91"/>
          <p:cNvSpPr/>
          <p:nvPr/>
        </p:nvSpPr>
        <p:spPr>
          <a:xfrm>
            <a:off x="10287000" y="2404872"/>
            <a:ext cx="182880" cy="164592"/>
          </a:xfrm>
          <a:custGeom>
            <a:avLst/>
            <a:gdLst/>
            <a:ahLst/>
            <a:cxnLst/>
            <a:rect l="l" t="t" r="r" b="b"/>
            <a:pathLst>
              <a:path w="182880" h="164592">
                <a:moveTo>
                  <a:pt x="0" y="0"/>
                </a:moveTo>
                <a:lnTo>
                  <a:pt x="182880" y="0"/>
                </a:lnTo>
                <a:lnTo>
                  <a:pt x="182880" y="164592"/>
                </a:lnTo>
                <a:lnTo>
                  <a:pt x="0" y="164592"/>
                </a:lnTo>
                <a:close/>
              </a:path>
            </a:pathLst>
          </a:cu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1320" y="23682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33D4F"/>
                </a:solidFill>
                <a:latin typeface="Calibri"/>
              </a:rPr>
              <a:t>Angle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